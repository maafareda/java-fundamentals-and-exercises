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2.xml" ContentType="application/vnd.openxmlformats-officedocument.presentationml.slideMaster+xml"/>
  <Override PartName="/ppt/slideMasters/slideMaster13.xml" ContentType="application/vnd.openxmlformats-officedocument.presentationml.slideMaster+xml"/>
  <Override PartName="/ppt/slideMasters/slideMaster14.xml" ContentType="application/vnd.openxmlformats-officedocument.presentationml.slideMaster+xml"/>
  <Override PartName="/ppt/slideMasters/slideMaster15.xml" ContentType="application/vnd.openxmlformats-officedocument.presentationml.slideMaster+xml"/>
  <Override PartName="/ppt/slideMasters/slideMaster16.xml" ContentType="application/vnd.openxmlformats-officedocument.presentationml.slideMaster+xml"/>
  <Override PartName="/ppt/slideMasters/slideMaster17.xml" ContentType="application/vnd.openxmlformats-officedocument.presentationml.slideMaster+xml"/>
  <Override PartName="/ppt/slideMasters/slideMaster18.xml" ContentType="application/vnd.openxmlformats-officedocument.presentationml.slideMaster+xml"/>
  <Override PartName="/ppt/slideMasters/slideMaster19.xml" ContentType="application/vnd.openxmlformats-officedocument.presentationml.slideMaster+xml"/>
  <Override PartName="/ppt/slideMasters/slideMaster20.xml" ContentType="application/vnd.openxmlformats-officedocument.presentationml.slideMaster+xml"/>
  <Override PartName="/ppt/slideMasters/slideMaster21.xml" ContentType="application/vnd.openxmlformats-officedocument.presentationml.slideMaster+xml"/>
  <Override PartName="/ppt/slideMasters/slideMaster22.xml" ContentType="application/vnd.openxmlformats-officedocument.presentationml.slideMaster+xml"/>
  <Override PartName="/ppt/slideMasters/slideMaster23.xml" ContentType="application/vnd.openxmlformats-officedocument.presentationml.slideMaster+xml"/>
  <Override PartName="/ppt/slideMasters/slideMaster24.xml" ContentType="application/vnd.openxmlformats-officedocument.presentationml.slideMaster+xml"/>
  <Override PartName="/ppt/slideMasters/slideMaster25.xml" ContentType="application/vnd.openxmlformats-officedocument.presentationml.slideMaster+xml"/>
  <Override PartName="/ppt/slideMasters/slideMaster26.xml" ContentType="application/vnd.openxmlformats-officedocument.presentationml.slideMaster+xml"/>
  <Override PartName="/ppt/slideMasters/slideMaster27.xml" ContentType="application/vnd.openxmlformats-officedocument.presentationml.slideMaster+xml"/>
  <Override PartName="/ppt/slideMasters/slideMaster28.xml" ContentType="application/vnd.openxmlformats-officedocument.presentationml.slideMaster+xml"/>
  <Override PartName="/ppt/slideMasters/slideMaster29.xml" ContentType="application/vnd.openxmlformats-officedocument.presentationml.slideMaster+xml"/>
  <Override PartName="/ppt/slideMasters/slideMaster30.xml" ContentType="application/vnd.openxmlformats-officedocument.presentationml.slideMaster+xml"/>
  <Override PartName="/ppt/slideMasters/slideMaster31.xml" ContentType="application/vnd.openxmlformats-officedocument.presentationml.slideMaster+xml"/>
  <Override PartName="/ppt/slideMasters/slideMaster32.xml" ContentType="application/vnd.openxmlformats-officedocument.presentationml.slideMaster+xml"/>
  <Override PartName="/ppt/slideMasters/slideMaster33.xml" ContentType="application/vnd.openxmlformats-officedocument.presentationml.slideMaster+xml"/>
  <Override PartName="/ppt/slideMasters/slideMaster34.xml" ContentType="application/vnd.openxmlformats-officedocument.presentationml.slideMaster+xml"/>
  <Override PartName="/ppt/slideMasters/slideMaster35.xml" ContentType="application/vnd.openxmlformats-officedocument.presentationml.slideMaster+xml"/>
  <Override PartName="/ppt/slideMasters/slideMaster36.xml" ContentType="application/vnd.openxmlformats-officedocument.presentationml.slideMaster+xml"/>
  <Override PartName="/ppt/slideMasters/slideMaster37.xml" ContentType="application/vnd.openxmlformats-officedocument.presentationml.slideMaster+xml"/>
  <Override PartName="/ppt/slideMasters/slideMaster38.xml" ContentType="application/vnd.openxmlformats-officedocument.presentationml.slideMaster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Masters/slideMaster44.xml" ContentType="application/vnd.openxmlformats-officedocument.presentationml.slideMaster+xml"/>
  <Override PartName="/ppt/slideMasters/slideMaster45.xml" ContentType="application/vnd.openxmlformats-officedocument.presentationml.slideMaster+xml"/>
  <Override PartName="/ppt/slideMasters/slideMaster46.xml" ContentType="application/vnd.openxmlformats-officedocument.presentationml.slideMaster+xml"/>
  <Override PartName="/ppt/slideMasters/slideMaster47.xml" ContentType="application/vnd.openxmlformats-officedocument.presentationml.slideMaster+xml"/>
  <Override PartName="/ppt/slideMasters/slideMaster48.xml" ContentType="application/vnd.openxmlformats-officedocument.presentationml.slideMaster+xml"/>
  <Override PartName="/ppt/slideMasters/slideMaster49.xml" ContentType="application/vnd.openxmlformats-officedocument.presentationml.slideMaster+xml"/>
  <Override PartName="/ppt/slideMasters/slideMaster50.xml" ContentType="application/vnd.openxmlformats-officedocument.presentationml.slide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94" r:id="rId40"/>
    <p:sldId id="295" r:id="rId41"/>
    <p:sldId id="296" r:id="rId42"/>
    <p:sldId id="297" r:id="rId43"/>
  </p:sldIdLst>
  <p:notesMasterIdLst>
    <p:notesMasterId r:id="rId5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1" Type="http://schemas.openxmlformats.org/officeDocument/2006/relationships/slideMaster" Target="slideMasters/slideMaster1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52" Type="http://schemas.openxmlformats.org/officeDocument/2006/relationships/notesMaster" Target="notesMasters/notesMaster1.xml"/><Relationship Id="rId53" Type="http://schemas.openxmlformats.org/officeDocument/2006/relationships/presProps" Target="presProps.xml"/><Relationship Id="rId54" Type="http://schemas.openxmlformats.org/officeDocument/2006/relationships/viewProps" Target="viewProps.xml"/><Relationship Id="rId55" Type="http://schemas.openxmlformats.org/officeDocument/2006/relationships/theme" Target="theme/theme1.xml"/><Relationship Id="rId5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5029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1371600" y="457200"/>
            <a:ext cx="1026871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Polymorphisme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1417320"/>
            <a:ext cx="11091672" cy="0"/>
          </a:xfrm>
          <a:prstGeom prst="line">
            <a:avLst/>
          </a:prstGeom>
          <a:noFill/>
          <a:ln w="19050">
            <a:solidFill>
              <a:srgbClr val="CADCF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1691640"/>
            <a:ext cx="5362956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200"/>
              </a:spcAft>
              <a:buSzPct val="100000"/>
              <a:buChar char="▪"/>
            </a:pPr>
            <a:r>
              <a:rPr lang="en-US" sz="1350" dirty="0">
                <a:solidFill>
                  <a:srgbClr val="26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Polymorphisme d'héritage : une référence de type parent peut pointer vers un objet de type enfant</a:t>
            </a:r>
            <a:endParaRPr lang="en-US" sz="1350" dirty="0"/>
          </a:p>
          <a:p>
            <a:pPr marL="177800" indent="-177800">
              <a:spcAft>
                <a:spcPts val="1200"/>
              </a:spcAft>
              <a:buSzPct val="100000"/>
              <a:buChar char="▪"/>
            </a:pPr>
            <a:r>
              <a:rPr lang="en-US" sz="1350" dirty="0">
                <a:solidFill>
                  <a:srgbClr val="26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Liaison dynamique (dynamic binding) : la méthode réellement exécutée dépend du type réel de l'objet, pas du type déclaré</a:t>
            </a:r>
            <a:endParaRPr lang="en-US" sz="1350" dirty="0"/>
          </a:p>
        </p:txBody>
      </p:sp>
      <p:sp>
        <p:nvSpPr>
          <p:cNvPr id="7" name="Text 5"/>
          <p:cNvSpPr txBox="1"/>
          <p:nvPr/>
        </p:nvSpPr>
        <p:spPr>
          <a:xfrm>
            <a:off x="6277356" y="1691640"/>
            <a:ext cx="5362956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200"/>
              </a:spcAft>
              <a:buSzPct val="100000"/>
              <a:buChar char="▪"/>
            </a:pPr>
            <a:r>
              <a:rPr lang="en-US" sz="1350" dirty="0">
                <a:solidFill>
                  <a:srgbClr val="26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Permet d'écrire du code générique fonctionnant avec plusieurs sous-types</a:t>
            </a:r>
            <a:endParaRPr lang="en-US" sz="1350" dirty="0"/>
          </a:p>
          <a:p>
            <a:pPr marL="177800" indent="-177800">
              <a:spcAft>
                <a:spcPts val="1200"/>
              </a:spcAft>
              <a:buSzPct val="100000"/>
              <a:buChar char="▪"/>
            </a:pPr>
            <a:r>
              <a:rPr lang="en-US" sz="1350" dirty="0">
                <a:solidFill>
                  <a:srgbClr val="26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Exemple typique : une liste de type parent contenant des objets de sous-classes différentes</a:t>
            </a:r>
            <a:endParaRPr lang="en-US" sz="1350" dirty="0"/>
          </a:p>
        </p:txBody>
      </p:sp>
      <p:sp>
        <p:nvSpPr>
          <p:cNvPr id="8" name="Text 6"/>
          <p:cNvSpPr txBox="1"/>
          <p:nvPr/>
        </p:nvSpPr>
        <p:spPr>
          <a:xfrm>
            <a:off x="0" y="6547104"/>
            <a:ext cx="12188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AA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— 1.10 Contenu</a:t>
            </a:r>
            <a:endParaRPr lang="en-US" sz="10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5029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1371600" y="457200"/>
            <a:ext cx="1026871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Définitions clés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1417320"/>
            <a:ext cx="11091672" cy="0"/>
          </a:xfrm>
          <a:prstGeom prst="line">
            <a:avLst/>
          </a:prstGeom>
          <a:noFill/>
          <a:ln w="19050">
            <a:solidFill>
              <a:srgbClr val="CADCF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2788920"/>
            <a:ext cx="11091672" cy="1097280"/>
          </a:xfrm>
          <a:prstGeom prst="roundRect">
            <a:avLst>
              <a:gd name="adj" fmla="val 5833"/>
            </a:avLst>
          </a:prstGeom>
          <a:solidFill>
            <a:srgbClr val="F2F5FC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77240" y="2788920"/>
            <a:ext cx="2560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Polymorphisme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3474720" y="2788920"/>
            <a:ext cx="789127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Capacité d'un objet à prendre plusieurs formes selon son type réel.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4114800"/>
            <a:ext cx="11091672" cy="1097280"/>
          </a:xfrm>
          <a:prstGeom prst="roundRect">
            <a:avLst>
              <a:gd name="adj" fmla="val 5833"/>
            </a:avLst>
          </a:prstGeom>
          <a:solidFill>
            <a:srgbClr val="F2F5FC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777240" y="4114800"/>
            <a:ext cx="2560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Liaison dynamique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3474720" y="4114800"/>
            <a:ext cx="789127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Résolution de la méthode appelée à l'exécution, selon le type réel de l'objet.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0" y="6547104"/>
            <a:ext cx="12188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AA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— 1.10 Définitions</a:t>
            </a:r>
            <a:endParaRPr lang="en-US" sz="10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66960" y="-1280160"/>
            <a:ext cx="3840480" cy="3840480"/>
          </a:xfrm>
          <a:prstGeom prst="ellipse">
            <a:avLst/>
          </a:prstGeom>
          <a:solidFill>
            <a:srgbClr val="26317A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548640"/>
            <a:ext cx="822960" cy="8229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5486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1645920" y="502920"/>
            <a:ext cx="99943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Exercice 1.10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48640" y="1828800"/>
            <a:ext cx="11091672" cy="3291840"/>
          </a:xfrm>
          <a:prstGeom prst="roundRect">
            <a:avLst>
              <a:gd name="adj" fmla="val 2778"/>
            </a:avLst>
          </a:prstGeom>
          <a:solidFill>
            <a:srgbClr val="263172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005840" y="2103120"/>
            <a:ext cx="10177272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7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Créer une liste d'Animaux contenant un Chien et un Chat (sous-classes différentes), parcourir la liste et appeler crier() sur chacun pour démontrer le polymorphisme.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534924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Sujet : Polymorphisme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0" y="6547104"/>
            <a:ext cx="12188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AA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— 1.10 Exercice</a:t>
            </a:r>
            <a:endParaRPr lang="en-US" sz="10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1212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Correction — 1.10 Polymorphisme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548640" y="960120"/>
            <a:ext cx="11091672" cy="5532120"/>
          </a:xfrm>
          <a:prstGeom prst="roundRect">
            <a:avLst>
              <a:gd name="adj" fmla="val 1322"/>
            </a:avLst>
          </a:prstGeom>
          <a:solidFill>
            <a:srgbClr val="1E1E2E"/>
          </a:solidFill>
          <a:ln/>
        </p:spPr>
      </p:sp>
      <p:sp>
        <p:nvSpPr>
          <p:cNvPr id="4" name="Shape 2"/>
          <p:cNvSpPr/>
          <p:nvPr/>
        </p:nvSpPr>
        <p:spPr>
          <a:xfrm>
            <a:off x="777240" y="1143000"/>
            <a:ext cx="146304" cy="146304"/>
          </a:xfrm>
          <a:prstGeom prst="ellipse">
            <a:avLst/>
          </a:prstGeom>
          <a:solidFill>
            <a:srgbClr val="FF6159"/>
          </a:solidFill>
          <a:ln/>
        </p:spPr>
      </p:sp>
      <p:sp>
        <p:nvSpPr>
          <p:cNvPr id="5" name="Shape 3"/>
          <p:cNvSpPr/>
          <p:nvPr/>
        </p:nvSpPr>
        <p:spPr>
          <a:xfrm>
            <a:off x="1033272" y="1143000"/>
            <a:ext cx="146304" cy="146304"/>
          </a:xfrm>
          <a:prstGeom prst="ellipse">
            <a:avLst/>
          </a:prstGeom>
          <a:solidFill>
            <a:srgbClr val="FFC12F"/>
          </a:solidFill>
          <a:ln/>
        </p:spPr>
      </p:sp>
      <p:sp>
        <p:nvSpPr>
          <p:cNvPr id="6" name="Shape 4"/>
          <p:cNvSpPr/>
          <p:nvPr/>
        </p:nvSpPr>
        <p:spPr>
          <a:xfrm>
            <a:off x="1289304" y="1143000"/>
            <a:ext cx="146304" cy="146304"/>
          </a:xfrm>
          <a:prstGeom prst="ellipse">
            <a:avLst/>
          </a:prstGeom>
          <a:solidFill>
            <a:srgbClr val="28C93F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68680" y="1417320"/>
            <a:ext cx="10451592" cy="4892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6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java.util.ArrayList;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6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java.util.List;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6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6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Chat extends Animal {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6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@Override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6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public void crier() {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6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System.out.println("Le chat miaule");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6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6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6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6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 class TestPolymorphisme {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6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public static void main(String[] args) {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6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List&lt;Animal&gt; animaux = new ArrayList&lt;&gt;();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6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animaux.add(new Chien());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6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animaux.add(new Chat());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6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6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for (Animal a : animaux) {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6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a.crier(); // liaison dynamique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6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6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6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0" y="6547104"/>
            <a:ext cx="12188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AA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— 1.10 Correction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50</Slides>
  <Notes>50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50</vt:i4>
      </vt:variant>
    </vt:vector>
  </HeadingPairs>
  <TitlesOfParts>
    <vt:vector size="5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2026-09-09T18:57:33Z</dcterms:created>
  <dcterms:modified xsi:type="dcterms:W3CDTF">2026-09-09T18:57:33Z</dcterms:modified>
</cp:coreProperties>
</file>