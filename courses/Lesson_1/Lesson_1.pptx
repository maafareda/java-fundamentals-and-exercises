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463040"/>
            <a:ext cx="4114800" cy="4114800"/>
          </a:xfrm>
          <a:prstGeom prst="ellipse">
            <a:avLst/>
          </a:prstGeom>
          <a:solidFill>
            <a:srgbClr val="1F3157"/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0" y="4206240"/>
            <a:ext cx="2926080" cy="2926080"/>
          </a:xfrm>
          <a:prstGeom prst="ellipse">
            <a:avLst/>
          </a:prstGeom>
          <a:solidFill>
            <a:srgbClr val="1F315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7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Java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POO et les notions fondamentales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611880"/>
            <a:ext cx="1280160" cy="0"/>
          </a:xfrm>
          <a:prstGeom prst="line">
            <a:avLst/>
          </a:prstGeom>
          <a:noFill/>
          <a:ln w="38100">
            <a:solidFill>
              <a:srgbClr val="E871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840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Leçon 1  ·  Programmation Orientée Objet, Collections, Stream API,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et Concurrence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6309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Génie Informatique — EHEI Oujda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grandes parties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514600"/>
            <a:ext cx="685800" cy="68580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14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91640" y="2560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281635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Programmation Orientée Objet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abstraite, interface et polymorphisme : les piliers de la POO en Java.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26480" y="210312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2514600"/>
            <a:ext cx="685800" cy="68580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514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60920" y="2560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60920" y="281635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Collections, Stream API &amp; Concurrence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92240" y="365760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Set, Map, Stream API, interfaces fonctionnelles, exceptions et multithreading.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JAVA — LEÇON 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POO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piliers de la POO en Java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3529584" cy="374904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377440"/>
            <a:ext cx="594360" cy="59436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2889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 abstraite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3749040"/>
            <a:ext cx="28895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 de partager plusieurs attributs entre plusieurs classes liées.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5486400"/>
            <a:ext cx="457200" cy="54864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12" name="Shape 10"/>
          <p:cNvSpPr/>
          <p:nvPr/>
        </p:nvSpPr>
        <p:spPr>
          <a:xfrm>
            <a:off x="4306824" y="2057400"/>
            <a:ext cx="3529584" cy="374904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6864" y="2377440"/>
            <a:ext cx="594360" cy="59436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4" name="Text 12"/>
          <p:cNvSpPr/>
          <p:nvPr/>
        </p:nvSpPr>
        <p:spPr>
          <a:xfrm>
            <a:off x="4626864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26864" y="3154680"/>
            <a:ext cx="2889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26864" y="3749040"/>
            <a:ext cx="28895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 un contrat que la classe doit respecter.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626864" y="5486400"/>
            <a:ext cx="457200" cy="54864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18" name="Shape 16"/>
          <p:cNvSpPr/>
          <p:nvPr/>
        </p:nvSpPr>
        <p:spPr>
          <a:xfrm>
            <a:off x="8156448" y="2057400"/>
            <a:ext cx="3529584" cy="374904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76488" y="2377440"/>
            <a:ext cx="594360" cy="59436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20" name="Text 18"/>
          <p:cNvSpPr/>
          <p:nvPr/>
        </p:nvSpPr>
        <p:spPr>
          <a:xfrm>
            <a:off x="8476488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76488" y="3154680"/>
            <a:ext cx="2889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76488" y="3749040"/>
            <a:ext cx="28895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 à une méthode d'avoir un comportement différent selon l'objet utilisé.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476488" y="5486400"/>
            <a:ext cx="457200" cy="54864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JAVA — LEÇON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4572000" cy="4572000"/>
          </a:xfrm>
          <a:prstGeom prst="ellipse">
            <a:avLst/>
          </a:prstGeom>
          <a:solidFill>
            <a:srgbClr val="1F3157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63040"/>
            <a:ext cx="822960" cy="82296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87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 &amp; Stream API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de données, traitement fonctionnel des flux, gestion des exceptions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concurrence en Java.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JAVA — LEÇON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· LIST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— collection ordonnée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548640" cy="54864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92024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List est une collection ordonnée. L'implémentation la plus courante est ArrayList.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" y="3236976"/>
            <a:ext cx="91440" cy="9144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 l'ordre des éléments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3739896"/>
            <a:ext cx="91440" cy="9144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 les doublons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242816"/>
            <a:ext cx="91440" cy="9144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 d'accéder à un élément avec son index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23560" y="1920240"/>
            <a:ext cx="6126480" cy="3886200"/>
          </a:xfrm>
          <a:prstGeom prst="roundRect">
            <a:avLst>
              <a:gd name="adj" fmla="val 1882"/>
            </a:avLst>
          </a:prstGeom>
          <a:solidFill>
            <a:srgbClr val="0E1526"/>
          </a:solidFill>
          <a:ln/>
          <a:effectLst>
            <a:outerShdw sx="100000" sy="100000" kx="0" ky="0" algn="bl" rotWithShape="0" blurRad="101600" dist="38100" dir="5400000">
              <a:srgbClr val="0B0F1C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69864" y="2048256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0" y="2048256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8" name="Shape 16"/>
          <p:cNvSpPr/>
          <p:nvPr/>
        </p:nvSpPr>
        <p:spPr>
          <a:xfrm>
            <a:off x="6117336" y="2048256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9" name="Text 17"/>
          <p:cNvSpPr/>
          <p:nvPr/>
        </p:nvSpPr>
        <p:spPr>
          <a:xfrm>
            <a:off x="5623560" y="2029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Main.java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24728" y="2249424"/>
            <a:ext cx="572414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java.util.ArrayList;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Main {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{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ArrayList&lt;String&gt; noms = new ArrayList&lt;&gt;();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noms.add("Reda");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noms.add("Amine");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noms.add("Reda");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System.out.println(noms);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23560" y="58978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Sortie :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[Reda, Amine, Reda]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JAVA — LEÇON 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· SET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— sans doublons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548640" cy="54864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92024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Set est une collection qui ne permet pas les doublons. L'implémentation la plus courante est HashSet.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" y="3236976"/>
            <a:ext cx="91440" cy="9144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Élimine automatiquement les doublons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3739896"/>
            <a:ext cx="91440" cy="9144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garantit pas l'ordre d'insertion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242816"/>
            <a:ext cx="91440" cy="9144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pour vérifier l'unicité d'éléments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23560" y="1920240"/>
            <a:ext cx="6126480" cy="3886200"/>
          </a:xfrm>
          <a:prstGeom prst="roundRect">
            <a:avLst>
              <a:gd name="adj" fmla="val 1882"/>
            </a:avLst>
          </a:prstGeom>
          <a:solidFill>
            <a:srgbClr val="0E1526"/>
          </a:solidFill>
          <a:ln/>
          <a:effectLst>
            <a:outerShdw sx="100000" sy="100000" kx="0" ky="0" algn="bl" rotWithShape="0" blurRad="101600" dist="38100" dir="5400000">
              <a:srgbClr val="0B0F1C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69864" y="2048256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0" y="2048256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8" name="Shape 16"/>
          <p:cNvSpPr/>
          <p:nvPr/>
        </p:nvSpPr>
        <p:spPr>
          <a:xfrm>
            <a:off x="6117336" y="2048256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9" name="Text 17"/>
          <p:cNvSpPr/>
          <p:nvPr/>
        </p:nvSpPr>
        <p:spPr>
          <a:xfrm>
            <a:off x="5623560" y="2029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Main.java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24728" y="2249424"/>
            <a:ext cx="572414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java.util.HashSet;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Main {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{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HashSet&lt;String&gt; noms = new HashSet&lt;&gt;();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noms.add("Reda");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noms.add("Amine");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noms.add("Reda");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System.out.println(noms);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23560" y="58978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Sortie :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[Reda, Amine]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JAVA — LEÇON 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· MAP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— paires clé-valeur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548640" cy="54864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92024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Map fonctionne avec des paires clé-valeur. L'implémentation la plus courante est HashMap.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" y="3236976"/>
            <a:ext cx="91440" cy="9144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clé est unique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3739896"/>
            <a:ext cx="91440" cy="9144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rapide à la valeur via sa clé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242816"/>
            <a:ext cx="91440" cy="9144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pour représenter des associations (ex. id → nom)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23560" y="1920240"/>
            <a:ext cx="6126480" cy="3886200"/>
          </a:xfrm>
          <a:prstGeom prst="roundRect">
            <a:avLst>
              <a:gd name="adj" fmla="val 1882"/>
            </a:avLst>
          </a:prstGeom>
          <a:solidFill>
            <a:srgbClr val="0E1526"/>
          </a:solidFill>
          <a:ln/>
          <a:effectLst>
            <a:outerShdw sx="100000" sy="100000" kx="0" ky="0" algn="bl" rotWithShape="0" blurRad="101600" dist="38100" dir="5400000">
              <a:srgbClr val="0B0F1C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69864" y="2048256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0" y="2048256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8" name="Shape 16"/>
          <p:cNvSpPr/>
          <p:nvPr/>
        </p:nvSpPr>
        <p:spPr>
          <a:xfrm>
            <a:off x="6117336" y="2048256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9" name="Text 17"/>
          <p:cNvSpPr/>
          <p:nvPr/>
        </p:nvSpPr>
        <p:spPr>
          <a:xfrm>
            <a:off x="5623560" y="2029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Main.java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24728" y="2249424"/>
            <a:ext cx="572414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java.util.HashMap;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Main {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{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HashMap&lt;Integer, String&gt; etudiants = new HashMap&lt;&gt;();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etudiants.put(1, "Reda");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etudiants.put(2, "Amine");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etudiants.put(3, "Yassine");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System.out.println(etudiants);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23560" y="58978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Sortie :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{1=Reda, 2=Amine, 3=Yassine}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JAVA — LEÇON 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· STREAM API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 API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Stream API permet de travailler facilement avec une collection de données, comme une ArrayList.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0E1526"/>
          </a:solidFill>
          <a:ln/>
          <a:effectLst>
            <a:outerShdw sx="100000" sy="100000" kx="0" ky="0" algn="bl" rotWithShape="0" blurRad="101600" dist="38100" dir="5400000">
              <a:srgbClr val="0B0F1C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03504" y="2276856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276856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950976" y="2276856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478024"/>
            <a:ext cx="10844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List&lt;Integer&gt; nombres = Arrays.asList(1, 2, 3, 4, 5);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Filtrer les données — filter()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5440680" cy="2834640"/>
          </a:xfrm>
          <a:prstGeom prst="roundRect">
            <a:avLst>
              <a:gd name="adj" fmla="val 2581"/>
            </a:avLst>
          </a:prstGeom>
          <a:solidFill>
            <a:srgbClr val="0E1526"/>
          </a:solidFill>
          <a:ln/>
          <a:effectLst>
            <a:outerShdw sx="100000" sy="100000" kx="0" ky="0" algn="bl" rotWithShape="0" blurRad="101600" dist="38100" dir="5400000">
              <a:srgbClr val="0B0F1C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" y="3465576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465576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6" name="Shape 14"/>
          <p:cNvSpPr/>
          <p:nvPr/>
        </p:nvSpPr>
        <p:spPr>
          <a:xfrm>
            <a:off x="950976" y="3465576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666744"/>
            <a:ext cx="50383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nombres.stream()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.filter(n -&gt; n &gt; 3)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.forEach(System.out::println);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71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sortie : 4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71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 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292608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 les données — map()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63640" y="3337560"/>
            <a:ext cx="5440680" cy="2834640"/>
          </a:xfrm>
          <a:prstGeom prst="roundRect">
            <a:avLst>
              <a:gd name="adj" fmla="val 2581"/>
            </a:avLst>
          </a:prstGeom>
          <a:solidFill>
            <a:srgbClr val="0E1526"/>
          </a:solidFill>
          <a:ln/>
          <a:effectLst>
            <a:outerShdw sx="100000" sy="100000" kx="0" ky="0" algn="bl" rotWithShape="0" blurRad="101600" dist="38100" dir="5400000">
              <a:srgbClr val="0B0F1C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9944" y="3465576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0" y="3465576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2" name="Shape 20"/>
          <p:cNvSpPr/>
          <p:nvPr/>
        </p:nvSpPr>
        <p:spPr>
          <a:xfrm>
            <a:off x="6757416" y="3465576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3" name="Text 21"/>
          <p:cNvSpPr/>
          <p:nvPr/>
        </p:nvSpPr>
        <p:spPr>
          <a:xfrm>
            <a:off x="6464808" y="3666744"/>
            <a:ext cx="50383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nombres.stream()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.map(n -&gt; n * 2)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.forEach(System.out::println);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71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sortie : 2 / 4 / 6 / 8 / 10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JAVA — LEÇON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· INTERFACES FONCTIONNELLES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Predicate, Function, Consumer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3639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Predicate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une condition.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3639312" cy="2926080"/>
          </a:xfrm>
          <a:prstGeom prst="roundRect">
            <a:avLst>
              <a:gd name="adj" fmla="val 2500"/>
            </a:avLst>
          </a:prstGeom>
          <a:solidFill>
            <a:srgbClr val="0E1526"/>
          </a:solidFill>
          <a:ln/>
          <a:effectLst>
            <a:outerShdw sx="100000" sy="100000" kx="0" ky="0" algn="bl" rotWithShape="0" blurRad="101600" dist="38100" dir="5400000">
              <a:srgbClr val="0B0F1C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3504" y="2962656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962656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9"/>
          <p:cNvSpPr/>
          <p:nvPr/>
        </p:nvSpPr>
        <p:spPr>
          <a:xfrm>
            <a:off x="950976" y="2962656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3163824"/>
            <a:ext cx="32369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Predicate&lt;Integer&gt; test = n -&gt; n &gt; 3;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71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sortie : true ou false,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71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selon la valeur de 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15968" y="1874520"/>
            <a:ext cx="3639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315968" y="2240280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 une valeur.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15968" y="2834640"/>
            <a:ext cx="3639312" cy="2926080"/>
          </a:xfrm>
          <a:prstGeom prst="roundRect">
            <a:avLst>
              <a:gd name="adj" fmla="val 2500"/>
            </a:avLst>
          </a:prstGeom>
          <a:solidFill>
            <a:srgbClr val="0E1526"/>
          </a:solidFill>
          <a:ln/>
          <a:effectLst>
            <a:outerShdw sx="100000" sy="100000" kx="0" ky="0" algn="bl" rotWithShape="0" blurRad="101600" dist="38100" dir="5400000">
              <a:srgbClr val="0B0F1C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62272" y="2962656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7" name="Shape 15"/>
          <p:cNvSpPr/>
          <p:nvPr/>
        </p:nvSpPr>
        <p:spPr>
          <a:xfrm>
            <a:off x="4636008" y="2962656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8" name="Shape 16"/>
          <p:cNvSpPr/>
          <p:nvPr/>
        </p:nvSpPr>
        <p:spPr>
          <a:xfrm>
            <a:off x="4809744" y="2962656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9" name="Text 17"/>
          <p:cNvSpPr/>
          <p:nvPr/>
        </p:nvSpPr>
        <p:spPr>
          <a:xfrm>
            <a:off x="4517136" y="3163824"/>
            <a:ext cx="32369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Function&lt;Integer, Integer&gt; doubler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 n -&gt; n * 2;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doubler.apply(5);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174736" y="1874520"/>
            <a:ext cx="3639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174736" y="2240280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 à utiliser une valeur, sans retourner de résultat.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174736" y="2834640"/>
            <a:ext cx="3639312" cy="2926080"/>
          </a:xfrm>
          <a:prstGeom prst="roundRect">
            <a:avLst>
              <a:gd name="adj" fmla="val 2500"/>
            </a:avLst>
          </a:prstGeom>
          <a:solidFill>
            <a:srgbClr val="0E1526"/>
          </a:solidFill>
          <a:ln/>
          <a:effectLst>
            <a:outerShdw sx="100000" sy="100000" kx="0" ky="0" algn="bl" rotWithShape="0" blurRad="101600" dist="38100" dir="5400000">
              <a:srgbClr val="0B0F1C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21040" y="2962656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4" name="Shape 22"/>
          <p:cNvSpPr/>
          <p:nvPr/>
        </p:nvSpPr>
        <p:spPr>
          <a:xfrm>
            <a:off x="8494776" y="2962656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5" name="Shape 23"/>
          <p:cNvSpPr/>
          <p:nvPr/>
        </p:nvSpPr>
        <p:spPr>
          <a:xfrm>
            <a:off x="8668512" y="2962656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6" name="Text 24"/>
          <p:cNvSpPr/>
          <p:nvPr/>
        </p:nvSpPr>
        <p:spPr>
          <a:xfrm>
            <a:off x="8375904" y="3163824"/>
            <a:ext cx="32369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Consumer&lt;String&gt; afficher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 nom -&gt;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System.out.println(nom);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afficher.accept("Reda");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JAVA — LEÇON 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des exceptions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exception est une erreur qui se produit pendant l'exécution d'un programme.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DEDE3"/>
          </a:solidFill>
          <a:ln w="12700">
            <a:solidFill>
              <a:srgbClr val="F4C79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26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typique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division par zéro provoque une ArithmeticException à l'exécution du programme.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035040" y="1691640"/>
            <a:ext cx="5715000" cy="2194560"/>
          </a:xfrm>
          <a:prstGeom prst="roundRect">
            <a:avLst>
              <a:gd name="adj" fmla="val 3333"/>
            </a:avLst>
          </a:prstGeom>
          <a:solidFill>
            <a:srgbClr val="0E1526"/>
          </a:solidFill>
          <a:ln/>
          <a:effectLst>
            <a:outerShdw sx="100000" sy="100000" kx="0" ky="0" algn="bl" rotWithShape="0" blurRad="101600" dist="38100" dir="5400000">
              <a:srgbClr val="0B0F1C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81344" y="1819656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2" name="Shape 10"/>
          <p:cNvSpPr/>
          <p:nvPr/>
        </p:nvSpPr>
        <p:spPr>
          <a:xfrm>
            <a:off x="6355080" y="1819656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528816" y="1819656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801368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Main.java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36208" y="2020824"/>
            <a:ext cx="5312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 = 10;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 = 0;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System.out.println(a / b);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71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lève une ArithmeticException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JAVA — LEÇON 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Exceptions vérifiées et non vérifiées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1031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Checked Exceptions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sont des exceptions que Java oblige le programmeur à gérer ou à déclarer.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3383280"/>
            <a:ext cx="4892040" cy="1965960"/>
          </a:xfrm>
          <a:prstGeom prst="roundRect">
            <a:avLst>
              <a:gd name="adj" fmla="val 3721"/>
            </a:avLst>
          </a:prstGeom>
          <a:solidFill>
            <a:srgbClr val="0E1526"/>
          </a:solidFill>
          <a:ln/>
          <a:effectLst>
            <a:outerShdw sx="100000" sy="100000" kx="0" ky="0" algn="bl" rotWithShape="0" blurRad="101600" dist="38100" dir="5400000">
              <a:srgbClr val="0B0F1C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77824" y="3511296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1560" y="3511296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225296" y="3511296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3712464"/>
            <a:ext cx="44897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java.io.FileReader;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java.io.IOException;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FileReader f = new FileReader("test.txt");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(IOException e) {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System.out.println("Erreur fichier");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544068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IOException est une Checked Exception : fichier inexistant, problème de permission, problème de lecture...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178308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37960" y="2057400"/>
            <a:ext cx="457200" cy="45720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32320" y="21031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Unchecked Exceptions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37960" y="269748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sont des exceptions que Java ne nous oblige pas à gérer.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37960" y="3383280"/>
            <a:ext cx="4892040" cy="1554480"/>
          </a:xfrm>
          <a:prstGeom prst="roundRect">
            <a:avLst>
              <a:gd name="adj" fmla="val 4706"/>
            </a:avLst>
          </a:prstGeom>
          <a:solidFill>
            <a:srgbClr val="0E1526"/>
          </a:solidFill>
          <a:ln/>
          <a:effectLst>
            <a:outerShdw sx="100000" sy="100000" kx="0" ky="0" algn="bl" rotWithShape="0" blurRad="101600" dist="38100" dir="5400000">
              <a:srgbClr val="0B0F1C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84264" y="3511296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0" y="3511296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5" name="Shape 23"/>
          <p:cNvSpPr/>
          <p:nvPr/>
        </p:nvSpPr>
        <p:spPr>
          <a:xfrm>
            <a:off x="7031736" y="3511296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6" name="Text 24"/>
          <p:cNvSpPr/>
          <p:nvPr/>
        </p:nvSpPr>
        <p:spPr>
          <a:xfrm>
            <a:off x="6739128" y="3712464"/>
            <a:ext cx="4489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age = -5;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(age &lt; 0) {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IllegalArgumentException(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"Age invalide");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JAVA — LEÇON 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globale des exceptions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gestion globale des exceptions signifie qu'on centralise la gestion des erreurs, au lieu de mettre le même try-catch partout dans le code.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749040"/>
            <a:ext cx="109728" cy="109728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6393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point de gestion pour toutes les erreurs de l'application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251960"/>
            <a:ext cx="109728" cy="109728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1422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plus lisible, sans répétition de try-catch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783080"/>
            <a:ext cx="5715000" cy="2011680"/>
          </a:xfrm>
          <a:prstGeom prst="roundRect">
            <a:avLst>
              <a:gd name="adj" fmla="val 3636"/>
            </a:avLst>
          </a:prstGeom>
          <a:solidFill>
            <a:srgbClr val="0E1526"/>
          </a:solidFill>
          <a:ln/>
          <a:effectLst>
            <a:outerShdw sx="100000" sy="100000" kx="0" ky="0" algn="bl" rotWithShape="0" blurRad="101600" dist="38100" dir="5400000">
              <a:srgbClr val="0B0F1C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81344" y="1911096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11"/>
          <p:cNvSpPr/>
          <p:nvPr/>
        </p:nvSpPr>
        <p:spPr>
          <a:xfrm>
            <a:off x="6355080" y="1911096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2"/>
          <p:cNvSpPr/>
          <p:nvPr/>
        </p:nvSpPr>
        <p:spPr>
          <a:xfrm>
            <a:off x="6528816" y="1911096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892808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Main.java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36208" y="2112264"/>
            <a:ext cx="5312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ajouterClient();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(Exception e) {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System.out.println("Erreur");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JAVA — LEÇON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572000"/>
            <a:ext cx="3657600" cy="3657600"/>
          </a:xfrm>
          <a:prstGeom prst="ellipse">
            <a:avLst/>
          </a:prstGeom>
          <a:solidFill>
            <a:srgbClr val="1F315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87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SECTION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097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Concurrence et synchronisation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3529584" cy="3291840"/>
          </a:xfrm>
          <a:prstGeom prst="roundRect">
            <a:avLst>
              <a:gd name="adj" fmla="val 2222"/>
            </a:avLst>
          </a:prstGeom>
          <a:solidFill>
            <a:srgbClr val="1F3157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2651760"/>
            <a:ext cx="457200" cy="54864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880360"/>
            <a:ext cx="2889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3474720"/>
            <a:ext cx="28895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AEB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tâches travaillent en même temps.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72584" y="2286000"/>
            <a:ext cx="3529584" cy="3291840"/>
          </a:xfrm>
          <a:prstGeom prst="roundRect">
            <a:avLst>
              <a:gd name="adj" fmla="val 2222"/>
            </a:avLst>
          </a:prstGeom>
          <a:solidFill>
            <a:srgbClr val="1F3157"/>
          </a:solidFill>
          <a:ln/>
        </p:spPr>
      </p:sp>
      <p:sp>
        <p:nvSpPr>
          <p:cNvPr id="11" name="Shape 9"/>
          <p:cNvSpPr/>
          <p:nvPr/>
        </p:nvSpPr>
        <p:spPr>
          <a:xfrm>
            <a:off x="4992624" y="2651760"/>
            <a:ext cx="457200" cy="54864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12" name="Text 10"/>
          <p:cNvSpPr/>
          <p:nvPr/>
        </p:nvSpPr>
        <p:spPr>
          <a:xfrm>
            <a:off x="4992624" y="2880360"/>
            <a:ext cx="2889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92624" y="3474720"/>
            <a:ext cx="28895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AEB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tâche exécutée par le programme.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522208" y="2286000"/>
            <a:ext cx="3529584" cy="3291840"/>
          </a:xfrm>
          <a:prstGeom prst="roundRect">
            <a:avLst>
              <a:gd name="adj" fmla="val 2222"/>
            </a:avLst>
          </a:prstGeom>
          <a:solidFill>
            <a:srgbClr val="1F3157"/>
          </a:solidFill>
          <a:ln/>
        </p:spPr>
      </p:sp>
      <p:sp>
        <p:nvSpPr>
          <p:cNvPr id="15" name="Shape 13"/>
          <p:cNvSpPr/>
          <p:nvPr/>
        </p:nvSpPr>
        <p:spPr>
          <a:xfrm>
            <a:off x="8842248" y="2651760"/>
            <a:ext cx="457200" cy="54864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16" name="Text 14"/>
          <p:cNvSpPr/>
          <p:nvPr/>
        </p:nvSpPr>
        <p:spPr>
          <a:xfrm>
            <a:off x="8842248" y="2880360"/>
            <a:ext cx="2889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Synchronisation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42248" y="3474720"/>
            <a:ext cx="28895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AEB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Éviter que plusieurs threads créent des problèmes en utilisant les mêmes données.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JAVA — LEÇON 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CONCURRENCE · MULTITHREADING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Exécuter plusieurs tâches en parallèle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multithreading permet à plusieurs tâches d'avancer en parallèle.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Thread — deux tâches en parallèle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5440680" cy="3063240"/>
          </a:xfrm>
          <a:prstGeom prst="roundRect">
            <a:avLst>
              <a:gd name="adj" fmla="val 2388"/>
            </a:avLst>
          </a:prstGeom>
          <a:solidFill>
            <a:srgbClr val="0E1526"/>
          </a:solidFill>
          <a:ln/>
          <a:effectLst>
            <a:outerShdw sx="100000" sy="100000" kx="0" ky="0" algn="bl" rotWithShape="0" blurRad="101600" dist="38100" dir="5400000">
              <a:srgbClr val="0B0F1C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3504" y="2688336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688336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9"/>
          <p:cNvSpPr/>
          <p:nvPr/>
        </p:nvSpPr>
        <p:spPr>
          <a:xfrm>
            <a:off x="950976" y="2688336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889504"/>
            <a:ext cx="503834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Test {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{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Thread t1 = new Thread(() -&gt; {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System.out.println("Tâche 1");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Thread t2 = new Thread(() -&gt; {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System.out.println("Tâche 2");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t1.start();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t2.start();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571500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 2 tâches à la fois.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63640" y="214884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CompletableFuture — exécution asynchrone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263640" y="256032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0E1526"/>
          </a:solidFill>
          <a:ln/>
          <a:effectLst>
            <a:outerShdw sx="100000" sy="100000" kx="0" ky="0" algn="bl" rotWithShape="0" blurRad="101600" dist="38100" dir="5400000">
              <a:srgbClr val="0B0F1C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9944" y="2688336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0" y="2688336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8" name="Shape 16"/>
          <p:cNvSpPr/>
          <p:nvPr/>
        </p:nvSpPr>
        <p:spPr>
          <a:xfrm>
            <a:off x="6757416" y="2688336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9" name="Text 17"/>
          <p:cNvSpPr/>
          <p:nvPr/>
        </p:nvSpPr>
        <p:spPr>
          <a:xfrm>
            <a:off x="6464808" y="2889504"/>
            <a:ext cx="5038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CompletableFuture.runAsync(() -&gt; {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System.out.println("Tâche exécutée");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63640" y="4114800"/>
            <a:ext cx="5440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mot important est asynchrone : le programme peut lancer une tâche et continuer à faire autre chose, sans attendre immédiatement la fin de cette tâche.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JAVA — LEÇON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CONCURRENCE · SÉCURITÉ DES THREADS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Régler les problèmes de concurrence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639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synchronized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57200" y="2212848"/>
            <a:ext cx="3639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thread à la fois.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3639312" cy="2880360"/>
          </a:xfrm>
          <a:prstGeom prst="roundRect">
            <a:avLst>
              <a:gd name="adj" fmla="val 2540"/>
            </a:avLst>
          </a:prstGeom>
          <a:solidFill>
            <a:srgbClr val="0E1526"/>
          </a:solidFill>
          <a:ln/>
          <a:effectLst>
            <a:outerShdw sx="100000" sy="100000" kx="0" ky="0" algn="bl" rotWithShape="0" blurRad="101600" dist="38100" dir="5400000">
              <a:srgbClr val="0B0F1C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3504" y="3054096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054096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9"/>
          <p:cNvSpPr/>
          <p:nvPr/>
        </p:nvSpPr>
        <p:spPr>
          <a:xfrm>
            <a:off x="950976" y="3054096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3255264"/>
            <a:ext cx="323697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synchronized void retirer(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montant) {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argent = argent - montant;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15968" y="1828800"/>
            <a:ext cx="3639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ReentrantLock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315968" y="2212848"/>
            <a:ext cx="3639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 aussi du verrouillage, avec plus de contrôle que synchronized.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15968" y="2926080"/>
            <a:ext cx="3639312" cy="2880360"/>
          </a:xfrm>
          <a:prstGeom prst="roundRect">
            <a:avLst>
              <a:gd name="adj" fmla="val 2540"/>
            </a:avLst>
          </a:prstGeom>
          <a:solidFill>
            <a:srgbClr val="0E1526"/>
          </a:solidFill>
          <a:ln/>
          <a:effectLst>
            <a:outerShdw sx="100000" sy="100000" kx="0" ky="0" algn="bl" rotWithShape="0" blurRad="101600" dist="38100" dir="5400000">
              <a:srgbClr val="0B0F1C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62272" y="3054096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7" name="Shape 15"/>
          <p:cNvSpPr/>
          <p:nvPr/>
        </p:nvSpPr>
        <p:spPr>
          <a:xfrm>
            <a:off x="4636008" y="3054096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8" name="Shape 16"/>
          <p:cNvSpPr/>
          <p:nvPr/>
        </p:nvSpPr>
        <p:spPr>
          <a:xfrm>
            <a:off x="4809744" y="3054096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9" name="Text 17"/>
          <p:cNvSpPr/>
          <p:nvPr/>
        </p:nvSpPr>
        <p:spPr>
          <a:xfrm>
            <a:off x="4517136" y="3255264"/>
            <a:ext cx="323697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 lock = new ReentrantLock();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lock.lock();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argent = argent - 50;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finally {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lock.unlock();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174736" y="1828800"/>
            <a:ext cx="3639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ConcurrentHashMap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174736" y="2212848"/>
            <a:ext cx="3639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threads peuvent y accéder de manière plus sûre.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74736" y="2926080"/>
            <a:ext cx="3639312" cy="2880360"/>
          </a:xfrm>
          <a:prstGeom prst="roundRect">
            <a:avLst>
              <a:gd name="adj" fmla="val 2540"/>
            </a:avLst>
          </a:prstGeom>
          <a:solidFill>
            <a:srgbClr val="0E1526"/>
          </a:solidFill>
          <a:ln/>
          <a:effectLst>
            <a:outerShdw sx="100000" sy="100000" kx="0" ky="0" algn="bl" rotWithShape="0" blurRad="101600" dist="38100" dir="5400000">
              <a:srgbClr val="0B0F1C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21040" y="3054096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4" name="Shape 22"/>
          <p:cNvSpPr/>
          <p:nvPr/>
        </p:nvSpPr>
        <p:spPr>
          <a:xfrm>
            <a:off x="8494776" y="3054096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5" name="Shape 23"/>
          <p:cNvSpPr/>
          <p:nvPr/>
        </p:nvSpPr>
        <p:spPr>
          <a:xfrm>
            <a:off x="8668512" y="3054096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6" name="Text 24"/>
          <p:cNvSpPr/>
          <p:nvPr/>
        </p:nvSpPr>
        <p:spPr>
          <a:xfrm>
            <a:off x="8375904" y="3255264"/>
            <a:ext cx="323697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ConcurrentHashMap&lt;Integer, String&gt;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utilisateurs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 new ConcurrentHashMap&lt;&gt;();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utilisateurs.put(1, "Reda");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utilisateurs.put(2, "Ali");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JAVA — LEÇON 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Concurrence — vue d'ensemble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74552" cy="4206240"/>
        </p:xfrm>
        <a:graphic>
          <a:graphicData uri="http://schemas.openxmlformats.org/drawingml/2006/table">
            <a:tbl>
              <a:tblPr/>
              <a:tblGrid>
                <a:gridCol w="3840480"/>
                <a:gridCol w="7434072"/>
              </a:tblGrid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Élément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Thread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Exécute une tâche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Multithreading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Plusieurs tâches avec plusieurs threads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ExecutorService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Gère plusieurs tâches / threads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CompletableFuture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Exécute des tâches de manière asynchrone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synchronized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Protège une partie du 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ReentrantLock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Permet de gérer manuellement un verrou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ConcurrentHashMap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adaptée à l'utilisation concurrente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JAVA — LEÇON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1F3157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4754880"/>
            <a:ext cx="3657600" cy="3657600"/>
          </a:xfrm>
          <a:prstGeom prst="ellipse">
            <a:avLst/>
          </a:prstGeom>
          <a:solidFill>
            <a:srgbClr val="1F3157"/>
          </a:solidFill>
          <a:ln/>
        </p:spPr>
      </p:sp>
      <p:sp>
        <p:nvSpPr>
          <p:cNvPr id="5" name="Shape 3"/>
          <p:cNvSpPr/>
          <p:nvPr/>
        </p:nvSpPr>
        <p:spPr>
          <a:xfrm>
            <a:off x="5684368" y="1920240"/>
            <a:ext cx="822960" cy="82296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6" name="Text 4"/>
          <p:cNvSpPr/>
          <p:nvPr/>
        </p:nvSpPr>
        <p:spPr>
          <a:xfrm>
            <a:off x="5684368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&lt;/&gt;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301752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!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0" y="37947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Java — POO, Collections, Stream API, Exceptions et Concurrence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  ·  Génie Informatique — EHEI Oujda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2026-09-13T18:49:49Z</dcterms:created>
  <dcterms:modified xsi:type="dcterms:W3CDTF">2026-09-13T18:49:49Z</dcterms:modified>
</cp:coreProperties>
</file>